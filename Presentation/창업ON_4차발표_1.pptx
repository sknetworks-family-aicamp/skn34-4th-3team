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 표지]</a:t>
            </a:r>
          </a:p>
          <a:p/>
          <a:p>
            <a:r>
              <a:t>안녕하세요, SKN34기 4차 프로젝트 3팀입니다. </a:t>
            </a:r>
          </a:p>
          <a:p/>
          <a:p>
            <a:r>
              <a:t>저희는 저번  3차 프로젝트에 이어 디벨롭된 내용을 간단하게 발표하겠습니다.</a:t>
            </a:r>
          </a:p>
          <a:p/>
          <a:p>
            <a:r>
              <a:t>(발표자 / 대상 / 시간: [여기에 입력])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 목차]</a:t>
            </a:r>
          </a:p>
          <a:p/>
          <a:p>
            <a:r>
              <a:t>오늘은  1번 시장성 부터 시작해서 10번 Q&amp;A 끝으로 발표를 마무리 하겠습니다.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 시장성]</a:t>
            </a:r>
          </a:p>
          <a:p/>
          <a:p>
            <a:r>
              <a:t>저희가 이 프로젝트를 시작한 이유입니다.</a:t>
            </a:r>
          </a:p>
          <a:p/>
          <a:p>
            <a:r>
              <a:t>정부의 창업 지원 예산은 10년 사이 3배 이상 늘었고, 지원 공고도 2016년 65개에서 올해 508개로 약 8배 증가했습니다.</a:t>
            </a:r>
          </a:p>
          <a:p/>
          <a:p>
            <a:r>
              <a:t>하지만 지원이 늘어난 만큼, 창업자가 확인해야 할 정보도 많아졌습니다.</a:t>
            </a:r>
          </a:p>
          <a:p/>
          <a:p>
            <a:r>
              <a:t>수많은 공고가 여러 곳에 흩어져 있다 보니, 정작 내 사업에 맞는 지원사업을 찾기가 어렵습니다.</a:t>
            </a:r>
          </a:p>
          <a:p/>
          <a:p>
            <a:r>
              <a:t>그래서 저희는 흩어진 공고를 한곳에 모아 내 조건에 맞는 지원사업을 찾아주고, 세금 관련 업무까지 도와주는 서비스를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 3차 → 4차]</a:t>
            </a:r>
          </a:p>
          <a:p/>
          <a:p>
            <a:r>
              <a:t>지난 3차 발표 이 후 추가된 기능들 입니다.</a:t>
            </a:r>
          </a:p>
          <a:p/>
          <a:p>
            <a:r>
              <a:t>첫 번째로, 채팅 스트리밍과 비동기 처리를 도입해 AI 답변을 기다리는 체감 시간을 줄이고, 여러 요청을 효율적으로 처리할 수 있도록 개선했습니다.</a:t>
            </a:r>
          </a:p>
          <a:p/>
          <a:p>
            <a:r>
              <a:t>두 번째로, 영수증을 활용한 지출관리와 사업계획서 작성 기능을 추가해 창업에 필요한 실무를 지원하도록 했습니다.</a:t>
            </a:r>
          </a:p>
          <a:p/>
          <a:p>
            <a:r>
              <a:t>세 번째로, 휴대폰에서도 앱처럼 사용할 수 있도록 개선하고, 실제 서버에 배포해 서비스를 운영할 수 있는 환경을 구축했습니다.</a:t>
            </a:r>
          </a:p>
          <a:p/>
          <a:p>
            <a:r>
              <a:t>그럼 다음 장부터 각 기능을 하나씩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 아키텍처 · 실배포]</a:t>
            </a:r>
          </a:p>
          <a:p/>
          <a:p>
            <a:r>
              <a:t>서버 프로그램은 3차 때 사용하던 FastAPI에서 Django로 변경했습니다.</a:t>
            </a:r>
          </a:p>
          <a:p/>
          <a:p>
            <a:r>
              <a:t>AI가 답변의 근거로 활용하는 문서도 국세청 해석 사례와 생활법령을 추가해 약 4,000건 늘렸습니다.</a:t>
            </a:r>
          </a:p>
          <a:p/>
          <a:p>
            <a:r>
              <a:t>마지막으로 서버를 App 서버와 Data 서버, 두 대로 분리했습니다. 이를 통해 서비스 처리와 데이터 관리를 분리하고, 데이터 보호와 안정성을 강화했습니다.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[06 CI/CD]</a:t>
            </a:r>
          </a:p>
          <a:p/>
          <a:p>
            <a:r>
              <a:t>CI/CD는 코드를 수정한 뒤 테스트하고, 서버에 자동으로 배포하는 과정입니다.</a:t>
            </a:r>
          </a:p>
          <a:p/>
          <a:p>
            <a:r>
              <a:t>먼저 코드를 작성하고 테스트한 뒤, 문제가 없으면 main 브랜치에 합칩니다.</a:t>
            </a:r>
          </a:p>
          <a:p/>
          <a:p>
            <a:r>
              <a:t>그러면 자동으로 테스트를 거쳐 AWS 서버에 배포되고, 배포 후에는 DB와 AI가 정상적으로 작동하는지도 확인합니다.</a:t>
            </a:r>
          </a:p>
          <a:p/>
          <a:p>
            <a:r>
              <a:t>이처럼 코드 배포부터 데이터 수집과 서버 점검까지 자동화했고, 문제가 발견되거나 새로운 기능이 필요하면 다시 계획 단계로 돌아가는 순환 구조로 운영되도록 설계 했습니다.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[07 사업계획서 흐름]</a:t>
            </a:r>
          </a:p>
          <a:p/>
          <a:p>
            <a:r>
              <a:t>창업 지원사업에 신청하려면 공고마다 정해진 양식에 맞춰 사업계획서를 작성해야 합니다. 이 과정을 도와주는 기능입니다.</a:t>
            </a:r>
          </a:p>
          <a:p/>
          <a:p>
            <a:r>
              <a:t>먼저 공고 양식을 분석해 작성해야 할 항목을 파악하고, 그 양식에 맞춰 AI가 초안을 작성합니다.</a:t>
            </a:r>
          </a:p>
          <a:p/>
          <a:p>
            <a:r>
              <a:t>이후 AI의 점검 결과를 바탕으로 내용을 수정하고, 필요하면 다시 점검할 수 있습니다.</a:t>
            </a:r>
          </a:p>
          <a:p/>
          <a:p>
            <a:r>
              <a:t>마지막으로 완성된 사업계획서를 한글 파일(HWPX)이나 PDF로 내려받을 수 있습니다.</a:t>
            </a:r>
          </a:p>
          <a:p/>
          <a:p>
            <a:r>
              <a:t> 양식 분석부터 초안 작성, 검토, 파일 다운로드까지 한 번에 지원하는 기능 입니다.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[08 지출관리 ① 모델 비교]</a:t>
            </a:r>
          </a:p>
          <a:p/>
          <a:p>
            <a:r>
              <a:t>지출관리는 영수증 사진을 올리면 내용을 자동으로 정리하고, 경비로 인정될 수 있는지도 확인해 주는 기능입니다.</a:t>
            </a:r>
          </a:p>
          <a:p/>
          <a:p>
            <a:r>
              <a:t>먼저 여러 OCR 모델의 성능을 비교해 정확도가 가장 높았던 PP-OCRv5 한국어 모델을 선정했습니다.</a:t>
            </a:r>
          </a:p>
          <a:p/>
          <a:p>
            <a:r>
              <a:t>하지만 영수증을처리하는 데 약 1분이 걸렸습니다. 그래서 오른쪽의 네 가지 방법으로 처리 속도를 개선했고, 처리 시간을 약 12초까지 단축했습니다.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[09 지출관리 ② 구동 방식]</a:t>
            </a:r>
          </a:p>
          <a:p/>
          <a:p>
            <a:r>
              <a:t>이제 실제로 작동하는 순서를 보여드리겠습니다.</a:t>
            </a:r>
          </a:p>
          <a:p/>
          <a:p>
            <a:r>
              <a:t>먼저 영수증 사진을 올리면 OCR이 글자를 읽고, AI가 날짜와 상호명, 금액을 정리해 저장합니다.</a:t>
            </a:r>
          </a:p>
          <a:p/>
          <a:p>
            <a:r>
              <a:t>만약 글자를 제대로 읽지 못하거나 필수 정보가 누락되면, 사진을 직접 분석할 수 있는 Vision LLM이 한 번 더 확인해 기록을 보완합니다.</a:t>
            </a:r>
          </a:p>
          <a:p/>
          <a:p>
            <a:r>
              <a:t>이렇게 정리된 영수증은 경비 인정 여부와 지원사업 경비로 활용할 수 있는지 확인할 수 있고, 엑셀 파일로도 바로 내보낼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 검색 고도화]</a:t>
            </a:r>
          </a:p>
          <a:p/>
          <a:p>
            <a:r>
              <a:t>AI가 좋은 답을 하려면 먼저 관련 자료를 잘 찾아와야 합니다. 그래서 검색 방법을 여러 가지 실험했습니다.</a:t>
            </a:r>
          </a:p>
          <a:p/>
          <a:p>
            <a:r>
              <a:t>한국어에 맞춘 검색 엔진(Elasticsearch)을 써보니, 처음 평가에서는 정답을 찾는 비율이 84.1%에서 92.1%로 올랐습니다.</a:t>
            </a:r>
          </a:p>
          <a:p>
            <a:r>
              <a:t>그런데 자료를 더 넣고 같은 조건으로 다시 비교해 보니, 기존 방식(BM25)과 정확도가 같았고 일부는 기존 방식이 더 좋았습니다.</a:t>
            </a:r>
          </a:p>
          <a:p>
            <a:r>
              <a:t>그래서 확실히 좋아졌다고 보기 어려워 기존 방식을 그대로 쓰고, 새 엔진은 나중에 다시 비교하려고 남겨 두었습니다.</a:t>
            </a:r>
          </a:p>
          <a:p/>
          <a:p>
            <a:r>
              <a:t>다른 시도도 같은 기준으로 판단했습니다.</a:t>
            </a:r>
          </a:p>
          <a:p>
            <a:r>
              <a:t>먼저, 질문을 핵심 단어만 남게 다듬었습니다. 질문 종류를 판단하는 라우터를 부를 때 동시에 AI가 질문에서 핵심 키워드만 뽑아 다시 검색에 넣습니다.</a:t>
            </a:r>
          </a:p>
          <a:p>
            <a:r>
              <a:t>또 여러 검색 결과를 합치는 점수 방식(RRF)을 조정했습니다. 의미 검색(Dense)이나 단어 검색(BM25) 한쪽에서 같은 정책이 여러 검색어로 반복해서 나와도 점수를 계속 더하지 않고, 그쪽에서 가장 높은 순위의 점수만 반영하도록 바꿨습니다.</a:t>
            </a:r>
          </a:p>
          <a:p>
            <a:r>
              <a:t>답변을 검사하는 방식을 다른 모델(CatBoost)로 바꿔 봤지만 통과율이 77.8%에서 22.2%로 떨어져 쓰지 않았습니다.</a:t>
            </a:r>
          </a:p>
          <a:p/>
          <a:p>
            <a:r>
              <a:t>정리하면, 새로운 기술이라고 무조건 쓰지 않고, 같은 조건에서 비교해 실제로 나은 것만 남겼습니다.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 앱 · 모바일]</a:t>
            </a:r>
          </a:p>
          <a:p/>
          <a:p>
            <a:r>
              <a:t>저희는 PWA 방식으로 모바일 환경을 구현했습니다.</a:t>
            </a:r>
          </a:p>
          <a:p/>
          <a:p>
            <a:r>
              <a:t>PWA는 별도의 앱 설치 없이 웹사이트를 앱처럼 사용할 수 있는 방식입니다. 반응형으로 구현해 하나의 서비스로 PC와 휴대폰을 모두 지원합니다.</a:t>
            </a:r>
          </a:p>
          <a:p/>
          <a:p>
            <a:r>
              <a:t>화면을 보시면 왼쪽부터 메인, 사업계획서, 지출관리 화면입니다. 하단 메뉴를 통해 각 기능을 쉽게 오갈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 BM]</a:t>
            </a:r>
          </a:p>
          <a:p/>
          <a:p>
            <a:r>
              <a:t>기존 세무 서비스는 1회 상담에도 1만 원에서 수십만 원까지 비용 차이가 크고, 초기 창업자에게는 부담이 될 수 있습니다.</a:t>
            </a:r>
          </a:p>
          <a:p/>
          <a:p>
            <a:r>
              <a:t>그래서 저희는 무료 체험으로 시작해, 저렴한 구독형 서비스와 프리미엄 요금제로 필요한 기능을 이용할 수 있도록 설계했습니다.</a:t>
            </a:r>
          </a:p>
          <a:p/>
          <a:p>
            <a:r>
              <a:t>앞으로도 창업과 세금 관련 기능을 지속적으로 추가하고, 세무사와 법무사 등 전문가와의 협업을 통해 비즈니스 모델을 확장해 나갈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 향후 개선방안]</a:t>
            </a:r>
          </a:p>
          <a:p/>
          <a:p>
            <a:r>
              <a:t>향후 개선방안은 크게 세 가지 방향으로 계획했습니다.</a:t>
            </a:r>
          </a:p>
          <a:p/>
          <a:p>
            <a:r>
              <a:t>첫째, 서비스 확장입니다.</a:t>
            </a:r>
          </a:p>
          <a:p/>
          <a:p>
            <a:r>
              <a:t>공공 상권 데이터를 활용해 상권을 분석하고, 그 결과를 사업계획서와 창업 로드맵에 연계해 맞춤형 정보를 제공하는 것과 사용자 조건에 맞는 공고가 올라오면 휴대폰 알림과 이메일로 알려주는 기능입니다.</a:t>
            </a:r>
          </a:p>
          <a:p/>
          <a:p>
            <a:r>
              <a:t>둘째, 운영과 인프라 개선입니다.</a:t>
            </a:r>
          </a:p>
          <a:p/>
          <a:p>
            <a:r>
              <a:t>오래 걸리는 작업은 따로 처리하고, 서버의 역할을 나눠 안정성을 높이는 것입니다. 또한 사용자가 늘어나면 서버를 자동으로 확장하고, 서비스 속도와 AI 비용, 답변 품질을 지속적으로 관리하는 것 입니다.</a:t>
            </a:r>
          </a:p>
          <a:p/>
          <a:p>
            <a:r>
              <a:t>셋째, 비즈니스 모델 확장입니다.</a:t>
            </a:r>
          </a:p>
          <a:p/>
          <a:p>
            <a:r>
              <a:t>개인과 기업을 대상으로 하는 기존 B2C·B2B 모델에서 나아가, 정부기관을 대상으로 하는 B2G 시장으로 확대하는 것과  세무사와 금융기관 등 전문기관과 협력한다면 새로운 사업 기회를 만들어 나갈 수 있다고 보았습니다.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 Q&amp;A]</a:t>
            </a:r>
          </a:p>
          <a:p/>
          <a:p>
            <a:r>
              <a:t>이상으로 3팀의 발표를 마치겠습니다. 궁금하신 점은 편하게 질문해 주세요.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표지" descr="L00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00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270250"/>
            <a:ext cx="4559399" cy="3232150"/>
          </a:xfrm>
          <a:prstGeom prst="rect">
            <a:avLst/>
          </a:prstGeom>
        </p:spPr>
      </p:pic>
      <p:pic>
        <p:nvPicPr>
          <p:cNvPr id="4" name="요소 2" descr="L00_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380" y="4768850"/>
            <a:ext cx="2321619" cy="173355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목차" descr="L01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01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076450"/>
            <a:ext cx="3810000" cy="2527300"/>
          </a:xfrm>
          <a:prstGeom prst="rect">
            <a:avLst/>
          </a:prstGeom>
        </p:spPr>
      </p:pic>
      <p:pic>
        <p:nvPicPr>
          <p:cNvPr id="4" name="요소 2" descr="L01_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0" y="1304925"/>
            <a:ext cx="7175500" cy="407035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시장성" descr="L02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02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271785"/>
            <a:ext cx="10553700" cy="1320800"/>
          </a:xfrm>
          <a:prstGeom prst="rect">
            <a:avLst/>
          </a:prstGeom>
        </p:spPr>
      </p:pic>
      <p:pic>
        <p:nvPicPr>
          <p:cNvPr id="4" name="요소 2" descr="L02_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3차 → 4차" descr="L03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03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38435"/>
            <a:ext cx="3962400" cy="2961382"/>
          </a:xfrm>
          <a:prstGeom prst="rect">
            <a:avLst/>
          </a:prstGeom>
        </p:spPr>
      </p:pic>
      <p:pic>
        <p:nvPicPr>
          <p:cNvPr id="4" name="요소 2" descr="L03_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138435"/>
            <a:ext cx="3962400" cy="2961382"/>
          </a:xfrm>
          <a:prstGeom prst="rect">
            <a:avLst/>
          </a:prstGeom>
        </p:spPr>
      </p:pic>
      <p:pic>
        <p:nvPicPr>
          <p:cNvPr id="5" name="요소 3" descr="L03_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600" y="1138435"/>
            <a:ext cx="3962400" cy="2961382"/>
          </a:xfrm>
          <a:prstGeom prst="rect">
            <a:avLst/>
          </a:prstGeom>
        </p:spPr>
      </p:pic>
      <p:pic>
        <p:nvPicPr>
          <p:cNvPr id="6" name="요소 4" descr="L03_g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3744217"/>
            <a:ext cx="3962400" cy="2961382"/>
          </a:xfrm>
          <a:prstGeom prst="rect">
            <a:avLst/>
          </a:prstGeom>
        </p:spPr>
      </p:pic>
      <p:pic>
        <p:nvPicPr>
          <p:cNvPr id="7" name="요소 5" descr="L03_g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3744217"/>
            <a:ext cx="3962400" cy="2961382"/>
          </a:xfrm>
          <a:prstGeom prst="rect">
            <a:avLst/>
          </a:prstGeom>
        </p:spPr>
      </p:pic>
      <p:pic>
        <p:nvPicPr>
          <p:cNvPr id="8" name="요소 6" descr="L03_g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1600" y="3744217"/>
            <a:ext cx="3962400" cy="2961382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40"/>
                            </p:stCondLst>
                            <p:childTnLst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60"/>
                            </p:stCondLst>
                            <p:childTnLst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80"/>
                            </p:stCondLst>
                            <p:childTnLst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아키텍처" descr="L04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04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036835"/>
            <a:ext cx="9207500" cy="5770364"/>
          </a:xfrm>
          <a:prstGeom prst="rect">
            <a:avLst/>
          </a:prstGeom>
        </p:spPr>
      </p:pic>
      <p:pic>
        <p:nvPicPr>
          <p:cNvPr id="4" name="요소 2" descr="L04_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1036835"/>
            <a:ext cx="2349500" cy="2194421"/>
          </a:xfrm>
          <a:prstGeom prst="rect">
            <a:avLst/>
          </a:prstGeom>
        </p:spPr>
      </p:pic>
      <p:pic>
        <p:nvPicPr>
          <p:cNvPr id="5" name="요소 3" descr="L04_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0" y="2824857"/>
            <a:ext cx="2349500" cy="2194421"/>
          </a:xfrm>
          <a:prstGeom prst="rect">
            <a:avLst/>
          </a:prstGeom>
        </p:spPr>
      </p:pic>
      <p:pic>
        <p:nvPicPr>
          <p:cNvPr id="6" name="요소 4" descr="L04_g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4612878"/>
            <a:ext cx="2349500" cy="2194421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40"/>
                            </p:stCondLst>
                            <p:childTnLst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60"/>
                            </p:stCondLst>
                            <p:childTnLst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CI/CD" descr="L05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05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024135"/>
            <a:ext cx="11176000" cy="5833864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사업계획서" descr="L06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06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13035"/>
            <a:ext cx="11176000" cy="4043164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지출관리 ① 모델 비교" descr="L07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07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50" y="1373385"/>
            <a:ext cx="6453088" cy="5122664"/>
          </a:xfrm>
          <a:prstGeom prst="rect">
            <a:avLst/>
          </a:prstGeom>
        </p:spPr>
      </p:pic>
      <p:pic>
        <p:nvPicPr>
          <p:cNvPr id="4" name="요소 2" descr="L07_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638" y="1373385"/>
            <a:ext cx="4151411" cy="5122664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지출관리 ② 구동 방식" descr="L08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08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13035"/>
            <a:ext cx="7404100" cy="5643364"/>
          </a:xfrm>
          <a:prstGeom prst="rect">
            <a:avLst/>
          </a:prstGeom>
        </p:spPr>
      </p:pic>
      <p:pic>
        <p:nvPicPr>
          <p:cNvPr id="4" name="요소 2" descr="L08_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0" y="1113035"/>
            <a:ext cx="4102100" cy="5643364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검색 고도화" descr="L09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09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13035"/>
            <a:ext cx="6078239" cy="5694164"/>
          </a:xfrm>
          <a:prstGeom prst="rect">
            <a:avLst/>
          </a:prstGeom>
        </p:spPr>
      </p:pic>
      <p:pic>
        <p:nvPicPr>
          <p:cNvPr id="4" name="요소 2" descr="L09_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39" y="1113035"/>
            <a:ext cx="5351760" cy="2168921"/>
          </a:xfrm>
          <a:prstGeom prst="rect">
            <a:avLst/>
          </a:prstGeom>
        </p:spPr>
      </p:pic>
      <p:pic>
        <p:nvPicPr>
          <p:cNvPr id="5" name="요소 3" descr="L09_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39" y="2875557"/>
            <a:ext cx="5351760" cy="2169021"/>
          </a:xfrm>
          <a:prstGeom prst="rect">
            <a:avLst/>
          </a:prstGeom>
        </p:spPr>
      </p:pic>
      <p:pic>
        <p:nvPicPr>
          <p:cNvPr id="6" name="요소 4" descr="L09_g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39" y="4638178"/>
            <a:ext cx="5351760" cy="2168921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40"/>
                            </p:stCondLst>
                            <p:childTnLst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60"/>
                            </p:stCondLst>
                            <p:childTnLst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앱 · 모바일" descr="L10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10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1049535"/>
            <a:ext cx="2667000" cy="5391150"/>
          </a:xfrm>
          <a:prstGeom prst="rect">
            <a:avLst/>
          </a:prstGeom>
        </p:spPr>
      </p:pic>
      <p:pic>
        <p:nvPicPr>
          <p:cNvPr id="4" name="요소 2" descr="L10_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1049535"/>
            <a:ext cx="2667000" cy="5391150"/>
          </a:xfrm>
          <a:prstGeom prst="rect">
            <a:avLst/>
          </a:prstGeom>
        </p:spPr>
      </p:pic>
      <p:pic>
        <p:nvPicPr>
          <p:cNvPr id="5" name="요소 3" descr="L10_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0" y="1049535"/>
            <a:ext cx="2667000" cy="539115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40"/>
                            </p:stCondLst>
                            <p:childTnLst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BM" descr="L11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11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074935"/>
            <a:ext cx="4996755" cy="5783064"/>
          </a:xfrm>
          <a:prstGeom prst="rect">
            <a:avLst/>
          </a:prstGeom>
        </p:spPr>
      </p:pic>
      <p:pic>
        <p:nvPicPr>
          <p:cNvPr id="4" name="요소 2" descr="L11_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455" y="1074935"/>
            <a:ext cx="914400" cy="5783064"/>
          </a:xfrm>
          <a:prstGeom prst="rect">
            <a:avLst/>
          </a:prstGeom>
        </p:spPr>
      </p:pic>
      <p:pic>
        <p:nvPicPr>
          <p:cNvPr id="5" name="요소 3" descr="L11_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555" y="1074935"/>
            <a:ext cx="6001444" cy="5783064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40"/>
                            </p:stCondLst>
                            <p:childTnLst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향후 개선방안" descr="L12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12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087635"/>
            <a:ext cx="3962400" cy="5668764"/>
          </a:xfrm>
          <a:prstGeom prst="rect">
            <a:avLst/>
          </a:prstGeom>
        </p:spPr>
      </p:pic>
      <p:pic>
        <p:nvPicPr>
          <p:cNvPr id="4" name="요소 2" descr="L12_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087635"/>
            <a:ext cx="3962400" cy="5668764"/>
          </a:xfrm>
          <a:prstGeom prst="rect">
            <a:avLst/>
          </a:prstGeom>
        </p:spPr>
      </p:pic>
      <p:pic>
        <p:nvPicPr>
          <p:cNvPr id="5" name="요소 3" descr="L12_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600" y="1087635"/>
            <a:ext cx="3962400" cy="5668764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40"/>
                            </p:stCondLst>
                            <p:childTnLst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배경 · Q&amp;A" descr="L00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요소 1" descr="L13_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60800"/>
            <a:ext cx="3894335" cy="2641600"/>
          </a:xfrm>
          <a:prstGeom prst="rect">
            <a:avLst/>
          </a:prstGeom>
        </p:spPr>
      </p:pic>
      <p:pic>
        <p:nvPicPr>
          <p:cNvPr id="4" name="요소 2" descr="L13_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747" y="5441950"/>
            <a:ext cx="2622252" cy="106045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창업ON 4차 프로젝트 발표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